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246888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43400"/>
            <a:ext cx="9144000" cy="7315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SEVI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BF7D0"/>
                </a:solidFill>
              </a:rPr>
              <a:t>CvSU Virtual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6EFAC"/>
                </a:solidFill>
              </a:rPr>
              <a:t>Proof-of-Concept Feasibility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Cavite State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F7D0"/>
                </a:solidFill>
              </a:rPr>
              <a:t>AI-Powered · Privacy-First · Self-Improving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What pain points does Sevi solve?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937"/>
                </a:solidFill>
              </a:rPr>
              <a:t>•  Students repeatedly ask the same FAQs — admissions, tuition, enrollment dates, course offerings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937"/>
                </a:solidFill>
              </a:rPr>
              <a:t>•  Admin staff spend significant time answering routine inquiries that divert from complex tasks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937"/>
                </a:solidFill>
              </a:rPr>
              <a:t>•  Office hours limit support availability — students need answers outside 8 AM–5 PM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937"/>
                </a:solidFill>
              </a:rPr>
              <a:t>•  No centralised digital channel for accurate, instant university information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937"/>
                </a:solidFill>
              </a:rPr>
              <a:t>•  Manual escalation of low-complexity queries wastes institutional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Target: Automate Tier-1 inquiries · Free staff for complex student concerns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Sevi?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A locally-deployed, self-improving university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Sevi is a domain-specific conversational AI built exclusively for Cavite State University. It answers student questions about admissions, courses, fees, offices, and schedules — running entirely on university infrastructure with no third-party cloud dependency.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26517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77440"/>
            <a:ext cx="265176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Hybrid ML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Naive Bayes + Neural Network
combined for speed &amp;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377440"/>
            <a:ext cx="26517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377440"/>
            <a:ext cx="265176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User thumbs up/down drives
automatic model retraining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26517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265176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Zero Cloud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Runs on-premises — no API fees,
no data leaves CvSU servers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77639"/>
            <a:ext cx="26517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77639"/>
            <a:ext cx="265176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6907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Always-On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24/7 availability — not limited
by office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977639"/>
            <a:ext cx="26517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3977639"/>
            <a:ext cx="265176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06907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Confidence Gating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Uncertain answers show a warning
banner; never confidently wrong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26517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77639"/>
            <a:ext cx="265176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406907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Admin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Real-time intent dashboard — see
what students ask 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Three-layer design: Frontend · API · ML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 (React + 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Chat UI · Admin Dashboard · Feedback Buttons · Mobile-Responsive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8595360" cy="1005840"/>
          </a:xfrm>
          <a:prstGeom prst="rect">
            <a:avLst/>
          </a:prstGeom>
          <a:solidFill>
            <a:srgbClr val="068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LAYER 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REST Endpoints: /chat  /feedback  /logs  /intents
Async · CORS-enabled · OpenAPI docs at /docs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03320"/>
            <a:ext cx="8595360" cy="100584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764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 CORE  (scikit-learn + Keras)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42231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Naive Bayes (TF-IDF, ~5ms)  →  Neural Net fallback (~50ms)
NLU Engine: entity extraction · context tracking · confidence 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937760"/>
            <a:ext cx="8595360" cy="10058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109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PERSISTENCE  (SQLite + JSON logs)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766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chat_history.db · daily JSON logs · feedback table · intent_stats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</a:rPr>
              <a:t>↕  HTTP/JSON        ↕  Python calls        ↕  SQLite driver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ML Pipeline — Hierarchical Hybrid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Fast path first; accurate path as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73152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43584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 USER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7276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Raw text → lowercased → lemmatized (NLTK WordNetLemmatizer)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8595360" cy="731520"/>
          </a:xfrm>
          <a:prstGeom prst="rect">
            <a:avLst/>
          </a:prstGeom>
          <a:solidFill>
            <a:srgbClr val="068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112264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 NAIVE BAYES  (~5ms)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4144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TF-IDF (500 features) → MultinomialNB (α=0.1)  |  Threshold: ≥ 55% → accept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8595360" cy="73152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980944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 NEURAL NET  (~50ms)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1012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Embedding(1000,64) → GlobalAvgPool → Dense(128) → Dense(64) → Softmax  |  Threshold: ≥ 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8595360" cy="73152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849624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  NLU 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7880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Entity extraction (dates, fees, programs) · Context boost (+10–20%) · is_follow_up flag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8595360" cy="7315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718303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  RESPONSE +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04748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Pick random response from matched intent · Log to SQLite · Return message_id for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5321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97A06"/>
                </a:solidFill>
              </a:rPr>
              <a:t>Both models below 50%  →  nlu_fallback response (never a wrong confident answer)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Feedback Loop &amp; Continuous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The model improves itself from real student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1605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1.  Student gives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3736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Thumbs up / thumbs down after each bot reply via the chat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234440"/>
            <a:ext cx="41605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123444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441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2.  Stored in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73736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message_id · intent · helpful · rating · suggested_intent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605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8892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89864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3.  Analyze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91839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POST /feedback/analyze identifies misclassified utterances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2788920"/>
            <a:ext cx="41605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59" y="278892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89864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4.  Patch intents.json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91839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Confirmed corrections written to cavsu_intents.json (timestamped backup created)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41605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4340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45312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5.  Auto-retrain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4632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continuous_training.py monitors fallback_rate (&gt;10%) &amp; confidence (&lt;75%) → triggers retraining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59" y="4343400"/>
            <a:ext cx="41605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59" y="434340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45312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6.  Model improves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4632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New NB and/or NN model saved to /models — no human intervention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Can it actually work? — Yes, and here's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1188720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2801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Hybrid NB+NN proven to outperform single models by 8–12% on short-text (Phan et al., 2020)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874519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025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9659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NB path returns in ~5ms; most queries never hit the NN — total latency &lt; 100ms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2560320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883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Wrong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6517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Confidence thresholds + amber warning banner prevent confidently wrong responses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46120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246120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741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3375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FastAPI async handles 100s of concurrent users; SQLite adequate for university-scale POC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931920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5993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Offline 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023359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Fully on-premises — works even without internet; no third-party API dependency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4617720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457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709159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Naive Bayes model ≈ 80 KB — trivially deployable on any university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03520"/>
            <a:ext cx="2286000" cy="5943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5303520"/>
            <a:ext cx="63093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315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Continuous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394959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Feedback loop means accuracy increases with usage, not despite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Operational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Will the university actually be able to run and maintain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" cy="91440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25"/>
                </a:solidFill>
              </a:rPr>
              <a:t>No ML expertise required post-deployment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Retraining is automated. Staff only need to review the admin dashboard — no Python knowledge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54864" cy="91440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25"/>
                </a:solidFill>
              </a:rPr>
              <a:t>Admin dashboard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Real-time intent analytics, confidence trends, and feedback summaries via the existing React frontend.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54864" cy="91440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3697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25"/>
                </a:solidFill>
              </a:rPr>
              <a:t>Familiar 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FastAPI + SQLite — standard tools any IT staff can install, restart, or back 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06240"/>
            <a:ext cx="54864" cy="91440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4281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25"/>
                </a:solidFill>
              </a:rPr>
              <a:t>Graceful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If the NN model fails to load, the NB model still handles all queries. No single point of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12080"/>
            <a:ext cx="54864" cy="91440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4865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25"/>
                </a:solidFill>
              </a:rPr>
              <a:t>Human escalation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235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Low-confidence responses display a contact number (046) 430-6332. Sevi knows its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Economic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Cost–benefit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1605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25"/>
                </a:solidFill>
              </a:rPr>
              <a:t>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Development time (one-time)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University server / VPS hosting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Open-source stack — ₱0 licensing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Maintenance: periodic review of admin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188720"/>
            <a:ext cx="41605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188720"/>
            <a:ext cx="4160520" cy="548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618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25"/>
                </a:solidFill>
              </a:rPr>
              <a:t>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Eliminates repetitive admin workload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24/7 student support — no overtime cost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No per-message API fees (vs. ChatGPT/Dialogflow)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937"/>
                </a:solidFill>
              </a:rPr>
              <a:t>•  Data stays on-campus — no compliance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80"/>
            <a:ext cx="8595360" cy="96012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Comparable commercial alternatives: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F7D0"/>
                </a:solidFill>
              </a:rPr>
              <a:t>Dialogflow CX: ~$0.007/request  ·  IBM Watson: $0.0025/message  ·  MS Bot Framework: Azure compute fees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09160"/>
            <a:ext cx="8595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709160"/>
            <a:ext cx="8595360" cy="54864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Winkler &amp; Söllner (2018) found university FAQ chatbots reduce admin workload by 30–40%. At even 20% reduction, the system pays for itself in &lt; 1 semester of staff-hours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Supporting Literature &amp;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Peer-reviewed research backing every key design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16052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160520" cy="64008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1673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33A"/>
                </a:solidFill>
              </a:rPr>
              <a:t>Hybrid NB + Neural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9164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Phan et al. (2020) — Hybrid ML for intent classification. Shows combined model outperforms individual models by 8–12% on short-text tasks.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188720"/>
            <a:ext cx="416052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1188720"/>
            <a:ext cx="4160520" cy="64008"/>
          </a:xfrm>
          <a:prstGeom prst="rect">
            <a:avLst/>
          </a:prstGeom>
          <a:solidFill>
            <a:srgbClr val="068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1673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8272"/>
                </a:solidFill>
              </a:rPr>
              <a:t>Deep Learning for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Kim (2014) — CNNs for Sentence Classification (EMNLP). Foundational work; validates neural approach to intent-length text classification.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416052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4160520" cy="64008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96265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University Chatbots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3756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Smutny &amp; Schreiberova (2020) — Chatbots for learning, Computers &amp; Education. Direct coverage of FAQ chatbot adoption in academic institutions.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2834640"/>
            <a:ext cx="416052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59" y="2834640"/>
            <a:ext cx="4160520" cy="64008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96265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A06"/>
                </a:solidFill>
              </a:rPr>
              <a:t>Chatbots in HEI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33756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Winkler &amp; Söllner (2018) — Unleashing Chatbot Potential in Education (AIS SIGED). Shows 30–40% admin workload reduction in university deployments.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416052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4160520" cy="64008"/>
          </a:xfrm>
          <a:prstGeom prst="rect">
            <a:avLst/>
          </a:prstGeom>
          <a:solidFill>
            <a:srgbClr val="55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60857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99"/>
                </a:solidFill>
              </a:rPr>
              <a:t>Active Learning / Feedback Retraining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98348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Settles (2012) — Active Learning (Morgan &amp; Claypool). Theoretical foundation for feedback-driven retraining used by the continuous learning module.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59" y="4480560"/>
            <a:ext cx="416052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59" y="4480560"/>
            <a:ext cx="4160520" cy="640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60857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Philippine HEI Digital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98348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CHED Memorandum Order 13 s.2022 — Digitalization in SUCs. Institutional backing: CHED mandates digital transformation for state universities like CvSU.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Anticipated Panel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How to defend the hard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9692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9692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43584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Q: Why not just use ChatGPT?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A: No data leaves CvSU. No per-message cost. Intents fully controlled. Works offline on university servers.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9424"/>
            <a:ext cx="8595360" cy="9692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49424"/>
            <a:ext cx="64008" cy="9692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Q: Why two ML models — isn't one enough?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A: NB handles 70–80% of queries in 5ms. NN only activates for hard cases. This is documented hierarchical hybrid strategy, not over-engineering.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10128"/>
            <a:ext cx="8595360" cy="9692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310128"/>
            <a:ext cx="64008" cy="9692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6499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Q: How do you know it's accurate?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A: Every prediction is logged with confidence score in SQLite. Pull a real accuracy figure from actual test traffic — stronger than a train/test split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70831"/>
            <a:ext cx="8595360" cy="9692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70831"/>
            <a:ext cx="64008" cy="9692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25695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Q: What happens when it's wrong?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19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A: Confidence gating + amber warning banner. Below-threshold responses show: 'This answer may not fully match your question.' Falls back to contact number (046) 430-6332.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31536"/>
            <a:ext cx="8595360" cy="9692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431536"/>
            <a:ext cx="64008" cy="969264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86399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25"/>
                </a:solidFill>
              </a:rPr>
              <a:t>Q: What's the scope / boundary?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07023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A: Domain-locked to CvSU FAQs. It cannot hallucinate — responses come only from the curated intents.json knowledge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6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9144000" cy="7315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Sevi is Feasible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F7D0"/>
                </a:solidFill>
              </a:rPr>
              <a:t>Technically · Operationally · Economically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5E7EB"/>
                </a:solidFill>
              </a:rPr>
              <a:t>✓  Proven ML techniques (NB + NN) backed by peer-reviewed research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5E7EB"/>
                </a:solidFill>
              </a:rPr>
              <a:t>✓  Self-improving via real user feedback — no manual retraining needed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5E7EB"/>
                </a:solidFill>
              </a:rPr>
              <a:t>✓  Zero licensing cost · fully on-premises · CHED-aligned digital transformation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5E7EB"/>
                </a:solidFill>
              </a:rPr>
              <a:t>✓  Confidence gating ensures the bot never misleads students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5E7EB"/>
                </a:solidFill>
              </a:rPr>
              <a:t>✓  Ready for production — logging, analytics, feedback loop all built-in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Cavite State University  ·  Sevi POC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